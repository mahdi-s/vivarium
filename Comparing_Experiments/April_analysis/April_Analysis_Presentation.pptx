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 b="1">
                <a:solidFill>
                  <a:srgbClr val="1A3A5C"/>
                </a:solidFill>
              </a:rPr>
              <a:t>Alignment Correlates of Consensus Susceptibility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Training-Stage Decomposition and Cross-Family Survey in Large Language Models</a:t>
            </a:r>
          </a:p>
          <a:p>
            <a:pPr>
              <a:defRPr sz="1800">
                <a:solidFill>
                  <a:srgbClr val="555555"/>
                </a:solidFill>
              </a:defRPr>
            </a:pP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OLMo 7B + 32B (Instruct &amp; Think paths)  |  8 additional model families  |  12 pressure conditions</a:t>
            </a:r>
          </a:p>
          <a:p>
            <a:pPr>
              <a:defRPr sz="1800">
                <a:solidFill>
                  <a:srgbClr val="555555"/>
                </a:solidFill>
              </a:defRPr>
            </a:pP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Mahdi Saeedi, Jinyi Ye, Luca Luceri  —  University of Southern California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What Are We Studying?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When a model knows the right answer, will it change its mind if fabricated peers all endorse the wrong one?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We call this consensus susceptibility — distinct from sycophancy (agreeing with the user).</a:t>
            </a:r>
          </a:p>
          <a:p>
            <a:pPr>
              <a:defRPr sz="1400">
                <a:solidFill>
                  <a:srgbClr val="333333"/>
                </a:solidFill>
              </a:defRPr>
            </a:pP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Why it matters: LLMs are deployed as medical assistants, legal advisors, coding copilots.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If embedding fake consensus in the prompt flips the answer, that is a concrete deployment vulnerability.</a:t>
            </a:r>
          </a:p>
          <a:p>
            <a:pPr>
              <a:defRPr sz="1400">
                <a:solidFill>
                  <a:srgbClr val="333333"/>
                </a:solidFill>
              </a:defRPr>
            </a:pP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Key insight: modern LLMs go through multiple post-training stages (SFT → DPO → RL).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Do these stages help or hurt? Prior work treated the pipeline as a black box.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OLMo is the only major model family releasing every intermediate checkpoint — so we can look inside.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BER (Behavioral Error Rate) = wrong-answer endorsement rate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The fraction of questions where the model adopts the fabricated wrong answer as its own.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Formally: B / N, where B = count of wrong-answer endorsements, N = 400 items per condition.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3-State Decomposition: every trial is classified as one of: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State A (correct)  |  State B (wrong-answer endorsed)  |  State C (refusal)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This matters because a model that refuses everything and one that endorses wrong answers are both 'failing' — but differently.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Δ (Delta) = Error_pressure − Error_control  (the pressure effect)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McNemar's exact test with Holm–Bonferroni correction for statistical significance.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Wilson 95% confidence intervals on 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Within-family decomposition (OLMo):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Instruct path (7B, full coverage): Base → SFT → DPO → Instruct (RLVR), 12 conditions, 6 temperatures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Think path (7B): Think-SFT, Think-DPO — 2 temperatures, 4 shared conditions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Think path (32B): Think-SFT, Think-DPO, Think — 2 temperatures, 4 shared conditions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32B Instruct — scale comparison on the same shared conditions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Cross-family extension: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8 additional families: Llama-3-8B, Llama-3.1-70B, Llama-4-Maverick, GPT-4o-Mini, GPT-OSS-20B, Gemini-2.5-Flash-Lite, Grok-4.1-Fast, Claude-Sonnet-4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4 core conditions × 2 temperatures × 400 items per condition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Ablation studies: system-prompt removal + non-social n-gram baseline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400 factual QA items across 8 domains (math, science, reasoning, knowledge,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Finding 1: SFT Amplifies Susceptibility, DPO Partially Repairs It</a:t>
            </a:r>
          </a:p>
        </p:txBody>
      </p:sp>
      <p:pic>
        <p:nvPicPr>
          <p:cNvPr id="3" name="Picture 2" descr="fig_stage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9767"/>
            <a:ext cx="11002975" cy="47099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BER (wrong-answer endorsement rate, B/400) across post-training stages for OLMo-7B. Instruct path (blue) shows dramatic SFT spike; Think path (orange) remains stable. Both share the same Base checkpoint.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The Full Landscape: BER Across All Stages and Conditions (T=0)</a:t>
            </a:r>
          </a:p>
        </p:txBody>
      </p:sp>
      <p:pic>
        <p:nvPicPr>
          <p:cNvPr id="3" name="Picture 2" descr="fig_2axis_heatmap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98" y="1051560"/>
            <a:ext cx="781549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Panel A: Instruct-path variants × 12 conditions, ordered by target-answer repetition count. Panel B: Think-path variants × 4 shared conditions, column-aligned. Color gradient tracks repetition count — a visual fingerprint of pattern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What the Training-Stage Decomposition Reveals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SFT amplifies vulnerability: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The SFT checkpoint produces the highest wrong-answer endorsement of any variant — higher than the raw Base model.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SFT simultaneously shows the lowest refusal rate: it suppresses abstention while amplifying pattern following.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DPO partially repairs the damage: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Endorsement drops and refusal rises relative to SFT after preference optimization.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But the final RL stage (Instruct) shows a partial rebound. All variants remain significantly vulnerable.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Think path tells the opposite story: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SFT reduces endorsement on the Think path. Reasoning training protects against the same pressure.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This is invisible in any end-to-end comparison (Base vs final Instruct) — you need the intermediate checkpoints to see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Finding 2: What Looks Like Peer Pressure Is Largely Pattern Completion</a:t>
            </a:r>
          </a:p>
        </p:txBody>
      </p:sp>
      <p:pic>
        <p:nvPicPr>
          <p:cNvPr id="3" name="Picture 2" descr="fig_ablation_ngram_vs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9" y="1051560"/>
            <a:ext cx="834157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BER under social pressure (blue), without system prompt (orange), and with non-social n-gram baseline (red). Llama-3.1-70B endorses wrong answers 7.94× more from pure pattern repetition than from social framing. For OLMo-32B, the ratio is 1.12× — social framing adds almost nothing beyond what pattern completion already explains.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What the Ablation Tells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The Asch-style prompt embeds five repetitions of the wrong answer ("Participant 1: X ... Participant 5: X").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Is the model responding to social pressure — or just completing a repetitive pattern?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System prompt removal: for some models, endorsement spikes dramatically without the truth-preferring instruction.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For others, the system prompt provides zero measurable protection.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Non-social n-gram baseline: stripping all social framing while keeping the repetitive structure still produces substantial endorsement.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This reframes the construct: the vulnerability is to repetitive in-context patterns, not to social reasoning.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Practical implication: the threat is real regardless of mechanism — structured repetition in a prompt can flip model answers.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But the mitigation strategy changes: defend against n-gram repetition, not against social deference.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Finding 3: Susceptibility Varies Massively Across Families</a:t>
            </a:r>
          </a:p>
        </p:txBody>
      </p:sp>
      <p:pic>
        <p:nvPicPr>
          <p:cNvPr id="3" name="Picture 2" descr="fig_cross_family_headline_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030" y="1051560"/>
            <a:ext cx="557563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BER (B/400) on unanimous-confident peer pressure at T=0. OLMo training-stage checkpoints embedded alongside cross-family models. Range: 4.5% (Llama-3.1-70B) to 73.8% (OLMo-7B-Instruct-SFT). Error bars = 95% Wilson CIs.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Three Distinct Failure Modes Under Identical Pressure</a:t>
            </a:r>
          </a:p>
        </p:txBody>
      </p:sp>
      <p:pic>
        <p:nvPicPr>
          <p:cNvPr id="3" name="Picture 2" descr="fig4_refusal_endors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083" y="1051560"/>
            <a:ext cx="576552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Δ endorsement (BER change) vs Δ refusal rate at T=0. Endorsement-dominant (right): model adopts wrong answers. Refusal-dominant (top): model declines to answer. Context-insensitive (origin): model ignores the pressure entirely.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The Three Behavioral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Endorsement-dominant (GPT-4o-Mini, OLMo-32B-Instruct):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Model adopts the fabricated consensus as its own answer at high rates while rarely refusing.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This is the most dangerous failure mode — the model confidently gives users wrong answers.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Refusal-dominant (Llama-3-8B):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Model triggers safety-aligned refusal rather than endorsing. Still failing, but differently.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Under fixed-N design, refusals inflate error rates but do not represent wrong-answer adoption.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Context-insensitive (Claude-Sonnet-4, Grok-4.1-Fast, Llama-3.1-70B):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Model answers as if the fabricated peers were not there. Maintains baseline accuracy.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All reasoning-capable models in our survey show non-significant peer conformity.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Alignment approach, not just capability, determines which mode a model falls into.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3A5C"/>
                </a:solidFill>
              </a:rPr>
              <a:t>Scale Comparison: OLMo 7B vs 32B</a:t>
            </a:r>
          </a:p>
        </p:txBody>
      </p:sp>
      <p:pic>
        <p:nvPicPr>
          <p:cNvPr id="3" name="Picture 2" descr="fig_scale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41002"/>
            <a:ext cx="9448495" cy="40674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BER at each training stage for OLMo-7B vs 32B on the 4 shared conditions at T=0. The Think path at 32B shows lower susceptibility than Instruct, consistent with the 7B finding.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What We Can Safely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1. Training-stage decomposition (novel):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SFT amplifies wrong-answer endorsement; DPO partially reverses it. These opposing effects cancel in any end-to-end comparison.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The Think (reasoning) path is protected from the same pressure that devastates the Instruct path.</a:t>
            </a:r>
          </a:p>
          <a:p>
            <a:pPr>
              <a:defRPr sz="1400">
                <a:solidFill>
                  <a:srgbClr val="333333"/>
                </a:solidFill>
              </a:defRPr>
            </a:pP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Pattern completion, not social deference (novel):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Stripping social framing while preserving repetitive structure still produces substantial endorsement.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The vulnerability is to autoregressive pattern completion, not to sociological reasoning.</a:t>
            </a:r>
          </a:p>
          <a:p>
            <a:pPr>
              <a:defRPr sz="1400">
                <a:solidFill>
                  <a:srgbClr val="333333"/>
                </a:solidFill>
              </a:defRPr>
            </a:pP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3. Three behavioral modes, not a spectrum (novel):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Models fail under pressure in categorically different ways: endorse, refuse, or resist.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Alignment approach, not capability alone, shapes which mode a model falls into.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3A5C"/>
                </a:solidFill>
              </a:rP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Limitations: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Cannot prove causation for closed models whose training details are proprietary.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The effect is tied to the structured n-gram format; generalization to multi-turn conversational pressure is untested.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DPO is applied to SFT weights — the observed mitigation reflects a sequential trajectory, not an independent counterfactual.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Reasoning models may resist via structural interrupt (&lt;think&gt; token) rather than deliberation.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Future work: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Multi-turn pressure: does sustained conversational consensus produce the same effect?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Causal probing: intervene on repetition-sensitive attention heads to test the pattern-completion hypothesis.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Mitigation design: n-gram diversity requirements in context windows.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