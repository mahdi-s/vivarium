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1274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Pattern-Completion Conformity</a:t>
            </a:r>
            <a:endParaRPr lang="en-US" sz="3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Large Language Models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2-Axis Decomposition of Post-Training Effects on Social Pressure Susceptibility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680960" cy="18288"/>
          </a:xfrm>
          <a:prstGeom prst="rect">
            <a:avLst/>
          </a:prstGeom>
          <a:solidFill>
            <a:srgbClr val="2E86AB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E86AB"/>
                </a:solidFill>
              </a:rPr>
              <a:t>19 Models</a:t>
            </a:r>
            <a:r>
              <a:rPr lang="en-US" sz="1400" dirty="0">
                <a:solidFill>
                  <a:srgbClr val="8FA4C4"/>
                </a:solidFill>
              </a:rPr>
              <a:t>  |  </a:t>
            </a:r>
            <a:r>
              <a:rPr lang="en-US" sz="1400" b="1" dirty="0">
                <a:solidFill>
                  <a:srgbClr val="2E86AB"/>
                </a:solidFill>
              </a:rPr>
              <a:t>~165,000 Trials</a:t>
            </a:r>
            <a:r>
              <a:rPr lang="en-US" sz="1400" dirty="0">
                <a:solidFill>
                  <a:srgbClr val="8FA4C4"/>
                </a:solidFill>
              </a:rPr>
              <a:t>  |  </a:t>
            </a:r>
            <a:r>
              <a:rPr lang="en-US" sz="1400" b="1" dirty="0">
                <a:solidFill>
                  <a:srgbClr val="2E86AB"/>
                </a:solidFill>
              </a:rPr>
              <a:t>412 Cells</a:t>
            </a:r>
            <a:r>
              <a:rPr lang="en-US" sz="1400" dirty="0">
                <a:solidFill>
                  <a:srgbClr val="8FA4C4"/>
                </a:solidFill>
              </a:rPr>
              <a:t>  |  </a:t>
            </a:r>
            <a:r>
              <a:rPr lang="en-US" sz="1400" b="1" dirty="0">
                <a:solidFill>
                  <a:srgbClr val="2E86AB"/>
                </a:solidFill>
              </a:rPr>
              <a:t>23 Pre-registered Claims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Study LLM Conformity?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5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LLMs change their answers when presented with peer opinions, even when the peers are obviously wrong.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This is not reasoning failure </a:t>
            </a:r>
            <a:r>
              <a:rPr lang="en-US" sz="1400" b="1" dirty="0">
                <a:solidFill>
                  <a:srgbClr val="000000"/>
                </a:solidFill>
              </a:rPr>
              <a:t>- it is autoregressive pattern completion.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The model has seen "five experts say X, so X" in training data, and completes the pattern regardless of factual knowledge.</a:t>
            </a:r>
            <a:endParaRPr lang="en-US" sz="1400" dirty="0"/>
          </a:p>
          <a:p>
            <a:pPr marL="0" indent="0">
              <a:buNone/>
            </a:pPr>
            <a:r>
              <a:rPr lang="en-US" sz="1300" i="1" dirty="0">
                <a:solidFill>
                  <a:srgbClr val="3A4A6B"/>
                </a:solidFill>
              </a:rPr>
              <a:t>This is analogous to Asch's (1956) conformity experiments in humans.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74904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Approach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Three testable hypotheses: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</a:rPr>
              <a:t>H1: </a:t>
            </a:r>
            <a:r>
              <a:rPr lang="en-US" sz="1400" dirty="0">
                <a:solidFill>
                  <a:srgbClr val="000000"/>
                </a:solidFill>
              </a:rPr>
              <a:t>Conformity generalizes across model families, not just one backbone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</a:rPr>
              <a:t>H2: </a:t>
            </a:r>
            <a:r>
              <a:rPr lang="en-US" sz="1400" dirty="0">
                <a:solidFill>
                  <a:srgbClr val="000000"/>
                </a:solidFill>
              </a:rPr>
              <a:t>The effect survives when all social framing is stripped (pure pattern completion)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</a:rPr>
              <a:t>H3: </a:t>
            </a:r>
            <a:r>
              <a:rPr lang="en-US" sz="1400" dirty="0">
                <a:solidFill>
                  <a:srgbClr val="000000"/>
                </a:solidFill>
              </a:rPr>
              <a:t>Scale alone doesn't rescue it, but the Think post-training recipe does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Metrics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005840" cy="1051560"/>
          </a:xfrm>
          <a:prstGeom prst="rect">
            <a:avLst/>
          </a:prstGeom>
          <a:solidFill>
            <a:srgbClr val="E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0" y="1280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</a:rPr>
              <a:t>Behavioral Endorsement Rate</a:t>
            </a:r>
            <a:endParaRPr lang="en-US" sz="15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E855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state_B / 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63440" y="12801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trials where the model endorsed the wrong answer under pressure. state_B = model answered incorrectly AND endorsed the majority's wrong answer. N = 400 items per cell.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2514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</a:rPr>
              <a:t>Conformity Effect</a:t>
            </a:r>
            <a:endParaRPr lang="en-US" sz="15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BER_pressure - BER_control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social pressure increase wrong-answer endorsement above baseline? Positive CE = pressure causes more wrong answers.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1005840" cy="1051560"/>
          </a:xfrm>
          <a:prstGeom prst="rect">
            <a:avLst/>
          </a:prstGeom>
          <a:solidFill>
            <a:srgbClr val="2EAB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φ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828800" y="37490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</a:rPr>
              <a:t>Knowledge Protection (Phi Correlation)</a:t>
            </a:r>
            <a:endParaRPr lang="en-US" sz="15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2EAB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corr(control_correct, pressure_endorsed)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63440" y="37490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knowing the right answer protect against pressure? φ ≤ -0.25 = strong protection (model resists pressure on items it knows). φ ≈ 0 = no protection.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trial is classified into one of four states:  A (correct)  |  B (wrong endorsed)  |  C (refusal)  |  D (unclassified).  All labels come from LLM-judge with 100% coverage.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Conditions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is tested under multiple social pressure conditions at T=0 (greedy) on 400 factual QA items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27127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peer opinions shown; model answers alone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Unanimous Confident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peers unanimously endorse the wrong answer with confident tone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Authoritative Bias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authoritative voice endorses wrong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Authority +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Authoritative voice with trust framing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Unanimous Uncertain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peers, uncertain tone ("I think maybe...")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Devil's Advocate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wrong + 1 correct peer (DA mitigation)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N-gram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A→B→C pattern probe, no question, no social framing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7B OLMo suite tests 12 conditions total (including mitigations); cross-family models share only the 4 bolded conditions above.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Layers of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73152" cy="1097280"/>
          </a:xfrm>
          <a:prstGeom prst="rect">
            <a:avLst/>
          </a:prstGeom>
          <a:solidFill>
            <a:srgbClr val="E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143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1: 7B OLMo Post-Training Trajectory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949440" y="1143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53D"/>
                </a:solidFill>
              </a:rPr>
              <a:t>123,200</a:t>
            </a:r>
            <a:r>
              <a:rPr lang="en-US" sz="1100" dirty="0">
                <a:solidFill>
                  <a:srgbClr val="3A4A6B"/>
                </a:solidFill>
              </a:rPr>
              <a:t> trials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44475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variants: base, instruct_sft, instruct_dpo, instruct (RL), think_sft, think_dpo, think (RL)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97280" y="162763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temperatures: 0.0, 0.2, 0.4, 0.6, 0.8, 1.0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97280" y="181051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conditions (Instruct path) / 4 conditions (Think path)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99339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2-axis decomposition: post-training stage x Instruct vs Think recipe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37744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73152" cy="10972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4231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2: Cross-Family Generalization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4944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2E86AB"/>
                </a:solidFill>
              </a:rPr>
              <a:t>~40,000</a:t>
            </a:r>
            <a:r>
              <a:rPr lang="en-US" sz="1100" dirty="0">
                <a:solidFill>
                  <a:srgbClr val="3A4A6B"/>
                </a:solidFill>
              </a:rPr>
              <a:t> trials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272491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model families: OLMo-32B {Instruct, Think, Think-SFT, Think-DPO}, Llama-{3-8B, 3.1-70B, 4-Maverick}, GPT-{4o-Mini, OSS-20B}, Gemini-2.5-Flash-Lite, Grok-4.1-Fast, Claude-Sonnet-4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97280" y="290779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temperatures x 4 shared conditions x 400 items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97280" y="309067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H1 (generalization) and H3 (scale vs recipe)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65760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73152" cy="1097280"/>
          </a:xfrm>
          <a:prstGeom prst="rect">
            <a:avLst/>
          </a:prstGeom>
          <a:solidFill>
            <a:srgbClr val="2EAB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3703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3: Ablation Probes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2EAB6F"/>
                </a:solidFill>
              </a:rPr>
              <a:t>1,600</a:t>
            </a:r>
            <a:r>
              <a:rPr lang="en-US" sz="1100" dirty="0">
                <a:solidFill>
                  <a:srgbClr val="3A4A6B"/>
                </a:solidFill>
              </a:rPr>
              <a:t> trials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" y="400507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Llama-3.1-70B + OLMo-32B-Instruct with system prompt stripped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97280" y="418795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sequence baseline: pure A→B→C pattern completion, no social framing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97280" y="4370832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H2: is the effect pattern completion or social conformity?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4800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A6B"/>
                </a:solidFill>
              </a:rPr>
              <a:t>Grand total: </a:t>
            </a:r>
            <a:r>
              <a:rPr lang="en-US" sz="1300" b="1" dirty="0">
                <a:solidFill>
                  <a:srgbClr val="1A2744"/>
                </a:solidFill>
              </a:rPr>
              <a:t>~165,000 trials across ~412 cells</a:t>
            </a:r>
            <a:r>
              <a:rPr lang="en-US" sz="1300" dirty="0">
                <a:solidFill>
                  <a:srgbClr val="3A4A6B"/>
                </a:solidFill>
              </a:rPr>
              <a:t>  |  Scorecard: </a:t>
            </a:r>
            <a:r>
              <a:rPr lang="en-US" sz="1300" b="1" dirty="0">
                <a:solidFill>
                  <a:srgbClr val="E8553D"/>
                </a:solidFill>
              </a:rPr>
              <a:t>20 PASS / 2 FAIL / 1 PARTIAL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457200"/>
          </a:xfrm>
          <a:prstGeom prst="ellipse">
            <a:avLst/>
          </a:prstGeom>
          <a:solidFill>
            <a:srgbClr val="E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amplifies conformity 3x; Think-SFT suppresses it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Instruct-SFT: 45.8% → 73.8% (+28pp) vs Think-SFT: 45.8% → 32.3% (-13.5pp)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Cross-family: 36.2pp spread across 12 model families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 ranges from 4.5% (Llama-70B) to 40.8% (OLMo-32B-Instruct) at T=0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651760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2606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completion survives without any social framing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2926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probe: Llama-70B at 35.8%, OLMo-32B at 45.5% - ratio = 7.94x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2EAB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383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helps but doesn't solve; Think recipe does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3703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7B→32B Instruct: -33pp (still 40.8%). 32B Instruct→32B Think: -29pp to 11.8%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20624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32B Think trajectory: each stage contributes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26.0% → DPO 19.3% → final 11.8% (larger steps than 7B)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7B OLMo Post-Training Landscape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 across post-training stages (SFT → DPO → RL) and recipe paths (Instruct vs Think) at all temperatures and conditions</a:t>
            </a:r>
            <a:endParaRPr lang="en-US" sz="1200" dirty="0"/>
          </a:p>
        </p:txBody>
      </p:sp>
      <p:pic>
        <p:nvPicPr>
          <p:cNvPr id="4" name="Image 0" descr="/tmp/april_figs/fig_2axis_heatmap_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097280"/>
            <a:ext cx="6217920" cy="34535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Instruct-SFT is the worst stage at 73.8%. Think-SFT disrupts pattern completion, cutting BER by 41.5pp vs matched Instruct-SFT.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Post-Training Stage Trajectory (7B)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 at T=0 on unanimous_confident: base → SFT → DPO → RL for both Instruct and Think paths</a:t>
            </a:r>
            <a:endParaRPr lang="en-US" sz="1200" dirty="0"/>
          </a:p>
        </p:txBody>
      </p:sp>
      <p:pic>
        <p:nvPicPr>
          <p:cNvPr id="4" name="Image 0" descr="/tmp/april_figs/fig_stage_trajec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97280"/>
            <a:ext cx="7589520" cy="32413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389120"/>
            <a:ext cx="374904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4389120"/>
            <a:ext cx="54864" cy="502920"/>
          </a:xfrm>
          <a:prstGeom prst="rect">
            <a:avLst/>
          </a:prstGeom>
          <a:solidFill>
            <a:srgbClr val="E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68680" y="43891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A6B"/>
                </a:solidFill>
              </a:rPr>
              <a:t>Instruct path: </a:t>
            </a:r>
            <a:r>
              <a:rPr lang="en-US" sz="1200" b="1" dirty="0">
                <a:solidFill>
                  <a:srgbClr val="E8553D"/>
                </a:solidFill>
              </a:rPr>
              <a:t>SFT amplifies to 73.8%</a:t>
            </a:r>
            <a:r>
              <a:rPr lang="en-US" sz="1200" dirty="0">
                <a:solidFill>
                  <a:srgbClr val="3A4A6B"/>
                </a:solidFill>
              </a:rPr>
              <a:t>, DPO partially reverses, RL rebounds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4389120"/>
            <a:ext cx="374904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54880" y="4389120"/>
            <a:ext cx="54864" cy="502920"/>
          </a:xfrm>
          <a:prstGeom prst="rect">
            <a:avLst/>
          </a:prstGeom>
          <a:solidFill>
            <a:srgbClr val="2EAB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83480" y="43891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A6B"/>
                </a:solidFill>
              </a:rPr>
              <a:t>Think path: </a:t>
            </a:r>
            <a:r>
              <a:rPr lang="en-US" sz="1200" b="1" dirty="0">
                <a:solidFill>
                  <a:srgbClr val="2EAB6F"/>
                </a:solidFill>
              </a:rPr>
              <a:t>SFT cuts to 32.3%</a:t>
            </a:r>
            <a:r>
              <a:rPr lang="en-US" sz="1200" dirty="0">
                <a:solidFill>
                  <a:srgbClr val="3A4A6B"/>
                </a:solidFill>
              </a:rPr>
              <a:t>, DPO/RL plateau at ~29% - &lt;think&gt; prefix disrupts completion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Cross-Family BER Ranking (H1)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 on unanimous_confident at T=0 across 12 model families with Wilson 95% CIs</a:t>
            </a:r>
            <a:endParaRPr lang="en-US" sz="1200" dirty="0"/>
          </a:p>
        </p:txBody>
      </p:sp>
      <p:pic>
        <p:nvPicPr>
          <p:cNvPr id="4" name="Image 0" descr="/tmp/april_figs/fig_cross_family_headline_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102965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1188720"/>
            <a:ext cx="35661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120640" y="1188720"/>
            <a:ext cx="54864" cy="914400"/>
          </a:xfrm>
          <a:prstGeom prst="rect">
            <a:avLst/>
          </a:prstGeom>
          <a:solidFill>
            <a:srgbClr val="E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303520" y="12344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53D"/>
                </a:solidFill>
              </a:rPr>
              <a:t>36.2pp spread</a:t>
            </a:r>
            <a:endParaRPr lang="en-US" sz="1800" dirty="0"/>
          </a:p>
          <a:p>
            <a:pPr marL="0" indent="0">
              <a:buNone/>
            </a:pPr>
            <a:r>
              <a:rPr lang="en-US" sz="1100" dirty="0">
                <a:solidFill>
                  <a:srgbClr val="3A4A6B"/>
                </a:solidFill>
              </a:rPr>
              <a:t>4.5% (Llama-70B) to 40.8% (OLMo-32B-Instruct)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120640" y="2286000"/>
            <a:ext cx="35661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120640" y="2286000"/>
            <a:ext cx="54864" cy="9144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303520" y="23317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</a:rPr>
              <a:t>32B Think trajectory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A4A6B"/>
                </a:solidFill>
              </a:rPr>
              <a:t>SFT 26.0% → DPO 19.3% → final 11.8%</a:t>
            </a:r>
            <a:endParaRPr lang="en-US" sz="1400" dirty="0"/>
          </a:p>
          <a:p>
            <a:pPr marL="0" indent="0">
              <a:buNone/>
            </a:pPr>
            <a:r>
              <a:rPr lang="en-US" sz="1000" i="1" dirty="0">
                <a:solidFill>
                  <a:srgbClr val="8FA4C4"/>
                </a:solidFill>
              </a:rPr>
              <a:t>Monotonic decrease at each training stage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120640" y="3383280"/>
            <a:ext cx="35661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120640" y="3383280"/>
            <a:ext cx="54864" cy="822960"/>
          </a:xfrm>
          <a:prstGeom prst="rect">
            <a:avLst/>
          </a:prstGeom>
          <a:solidFill>
            <a:srgbClr val="2EAB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303520" y="34290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AB6F"/>
                </a:solidFill>
              </a:rPr>
              <a:t>Think models cluster low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A4A6B"/>
                </a:solidFill>
              </a:rPr>
              <a:t>All Think/reasoning models &lt; 32% BER; all dense Instruct models show 23-41%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48006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C12 PASS (spread &gt; 30pp)  |  C16 PASS (≥2 Wilson CI tie groups)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vs Recipe: The OLMo Bridge (H3)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BER across 7B and 32B OLMo at each post-training stage on unanimous_confident at T=0</a:t>
            </a:r>
            <a:endParaRPr lang="en-US" sz="1200" dirty="0"/>
          </a:p>
        </p:txBody>
      </p:sp>
      <p:pic>
        <p:nvPicPr>
          <p:cNvPr id="4" name="Image 0" descr="/tmp/april_figs/fig_scale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97280"/>
            <a:ext cx="7772400" cy="33421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434840"/>
            <a:ext cx="7863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Scale alone </a:t>
            </a:r>
            <a:r>
              <a:rPr lang="en-US" sz="1300" b="1" dirty="0">
                <a:solidFill>
                  <a:srgbClr val="F0A500"/>
                </a:solidFill>
              </a:rPr>
              <a:t>(-33pp) </a:t>
            </a:r>
            <a:r>
              <a:rPr lang="en-US" sz="1300" dirty="0">
                <a:solidFill>
                  <a:srgbClr val="FFFFFF"/>
                </a:solidFill>
              </a:rPr>
              <a:t>leaves 32B-Instruct at 40.8%.  Think recipe </a:t>
            </a:r>
            <a:r>
              <a:rPr lang="en-US" sz="1300" b="1" dirty="0">
                <a:solidFill>
                  <a:srgbClr val="2EAB6F"/>
                </a:solidFill>
              </a:rPr>
              <a:t>(-29pp) </a:t>
            </a:r>
            <a:r>
              <a:rPr lang="en-US" sz="1300" dirty="0">
                <a:solidFill>
                  <a:srgbClr val="FFFFFF"/>
                </a:solidFill>
              </a:rPr>
              <a:t>drops 32B to 11.8%.  Both axes needed for robustness.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Pattern-Completion Ablation (H2)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Stripping social framing and system prompts reveals pure pattern completion</a:t>
            </a:r>
            <a:endParaRPr lang="en-US" sz="1200" dirty="0"/>
          </a:p>
        </p:txBody>
      </p:sp>
      <p:pic>
        <p:nvPicPr>
          <p:cNvPr id="4" name="Image 0" descr="/tmp/april_figs/fig_ablation_ngram_vs_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3931920" cy="2278875"/>
          </a:xfrm>
          <a:prstGeom prst="rect">
            <a:avLst/>
          </a:prstGeom>
        </p:spPr>
      </p:pic>
      <p:pic>
        <p:nvPicPr>
          <p:cNvPr id="5" name="Image 1" descr="/tmp/april_figs/fig_system_prompt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051560"/>
            <a:ext cx="3931920" cy="256557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40080" y="3886200"/>
            <a:ext cx="37490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640080" y="3886200"/>
            <a:ext cx="54864" cy="960120"/>
          </a:xfrm>
          <a:prstGeom prst="rect">
            <a:avLst/>
          </a:prstGeom>
          <a:solidFill>
            <a:srgbClr val="F0A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39593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0A500"/>
                </a:solidFill>
              </a:rPr>
              <a:t>N-gram probe (left)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3A4A6B"/>
                </a:solidFill>
              </a:rPr>
              <a:t>Llama-70B: </a:t>
            </a:r>
            <a:r>
              <a:rPr lang="en-US" sz="1150" b="1" dirty="0">
                <a:solidFill>
                  <a:srgbClr val="1A2744"/>
                </a:solidFill>
              </a:rPr>
              <a:t>35.8% BER</a:t>
            </a:r>
            <a:r>
              <a:rPr lang="en-US" sz="1150" dirty="0">
                <a:solidFill>
                  <a:srgbClr val="3A4A6B"/>
                </a:solidFill>
              </a:rPr>
              <a:t> on abstract pattern vs 4.5% with social framing = </a:t>
            </a:r>
            <a:r>
              <a:rPr lang="en-US" sz="1150" b="1" dirty="0">
                <a:solidFill>
                  <a:srgbClr val="E8553D"/>
                </a:solidFill>
              </a:rPr>
              <a:t>7.94x ratio</a:t>
            </a:r>
            <a:endParaRPr lang="en-US" sz="1300" dirty="0"/>
          </a:p>
          <a:p>
            <a:pPr marL="0" indent="0">
              <a:buNone/>
            </a:pPr>
            <a:r>
              <a:rPr lang="en-US" sz="1050" i="1" dirty="0">
                <a:solidFill>
                  <a:srgbClr val="8FA4C4"/>
                </a:solidFill>
              </a:rPr>
              <a:t>Pattern completion is HARDER to resist than aligned peer pressure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754880" y="3886200"/>
            <a:ext cx="37490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4754880" y="3886200"/>
            <a:ext cx="54864" cy="9601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4983480" y="39593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E86AB"/>
                </a:solidFill>
              </a:rPr>
              <a:t>System prompt stripped (right)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3A4A6B"/>
                </a:solidFill>
              </a:rPr>
              <a:t>Llama-70B: 4.5% → </a:t>
            </a:r>
            <a:r>
              <a:rPr lang="en-US" sz="1150" b="1" dirty="0">
                <a:solidFill>
                  <a:srgbClr val="1A2744"/>
                </a:solidFill>
              </a:rPr>
              <a:t>25.0%</a:t>
            </a:r>
            <a:r>
              <a:rPr lang="en-US" sz="1150" dirty="0">
                <a:solidFill>
                  <a:srgbClr val="3A4A6B"/>
                </a:solidFill>
              </a:rPr>
              <a:t> (+20.5pp, p≈10⁻¹⁶)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3A4A6B"/>
                </a:solidFill>
              </a:rPr>
              <a:t>OLMo-32B: 40.8% → 39.0% (n.s.) — already saturated</a:t>
            </a:r>
            <a:endParaRPr lang="en-US" sz="1300" dirty="0"/>
          </a:p>
          <a:p>
            <a:pPr marL="0" indent="0">
              <a:buNone/>
            </a:pPr>
            <a:r>
              <a:rPr lang="en-US" sz="1050" i="1" dirty="0">
                <a:solidFill>
                  <a:srgbClr val="8FA4C4"/>
                </a:solidFill>
              </a:rPr>
              <a:t>Llama-70B robustness is a system-prompt illusion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Repetition Drives Conformity; &lt;think&gt; Disrupts It</a:t>
            </a:r>
            <a:endParaRPr lang="en-US" sz="2400" dirty="0"/>
          </a:p>
        </p:txBody>
      </p:sp>
      <p:pic>
        <p:nvPicPr>
          <p:cNvPr id="3" name="Image 0" descr="/tmp/april_figs/fig_pattern_match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68680"/>
            <a:ext cx="4114800" cy="2432876"/>
          </a:xfrm>
          <a:prstGeom prst="rect">
            <a:avLst/>
          </a:prstGeom>
        </p:spPr>
      </p:pic>
      <p:pic>
        <p:nvPicPr>
          <p:cNvPr id="4" name="Image 1" descr="/tmp/april_figs/fig_think_prefix_prox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868680"/>
            <a:ext cx="4114800" cy="2616327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40080" y="379476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640080" y="3794760"/>
            <a:ext cx="54864" cy="1005840"/>
          </a:xfrm>
          <a:prstGeom prst="rect">
            <a:avLst/>
          </a:prstGeom>
          <a:solidFill>
            <a:srgbClr val="E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868680" y="3867912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553D"/>
                </a:solidFill>
              </a:rPr>
              <a:t>Pattern-Match Gradient (left)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3A4A6B"/>
                </a:solidFill>
              </a:rPr>
              <a:t>More peer repetitions = higher BER.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3A4A6B"/>
                </a:solidFill>
              </a:rPr>
              <a:t>Spearman ρ = 0.84 (base), 0.88 (SFT).</a:t>
            </a:r>
            <a:endParaRPr lang="en-US" sz="1300" dirty="0"/>
          </a:p>
          <a:p>
            <a:pPr marL="0" indent="0">
              <a:buNone/>
            </a:pPr>
            <a:r>
              <a:rPr lang="en-US" sz="1050" i="1" dirty="0">
                <a:solidFill>
                  <a:srgbClr val="8FA4C4"/>
                </a:solidFill>
              </a:rPr>
              <a:t>BER tracks repetition count, not social status — classic pattern completion.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754880" y="379476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4754880" y="3794760"/>
            <a:ext cx="54864" cy="1005840"/>
          </a:xfrm>
          <a:prstGeom prst="rect">
            <a:avLst/>
          </a:prstGeom>
          <a:solidFill>
            <a:srgbClr val="2EAB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4983480" y="3867912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EAB6F"/>
                </a:solidFill>
              </a:rPr>
              <a:t>&lt;think&gt; Prefix Proxy (right)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3A4A6B"/>
                </a:solidFill>
              </a:rPr>
              <a:t>At every stage, Think BER &lt; matched Instruct BER.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3A4A6B"/>
                </a:solidFill>
              </a:rPr>
              <a:t>SFT delta: -41.5pp. The &lt;think&gt; prefix forces deliberation before commitment.</a:t>
            </a:r>
            <a:endParaRPr lang="en-US" sz="1300" dirty="0"/>
          </a:p>
          <a:p>
            <a:pPr marL="0" indent="0">
              <a:buNone/>
            </a:pPr>
            <a:r>
              <a:rPr lang="en-US" sz="1050" i="1" dirty="0">
                <a:solidFill>
                  <a:srgbClr val="8FA4C4"/>
                </a:solidFill>
              </a:rPr>
              <a:t>Reasoning disrupts the autoregressive pattern-completion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can Safely Claim?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14984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9601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conformity is autoregressive pattern completion, not failed reasoning. An abstract A→B→C probe with no social framing produces BER of 36-46%.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09344"/>
            <a:ext cx="109728" cy="10972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554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generalizes across 12 model families (36.2pp spread), with statistically distinguishable Wilson CIs. It is not an OLMo artifact.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03704"/>
            <a:ext cx="109728" cy="109728"/>
          </a:xfrm>
          <a:prstGeom prst="ellipse">
            <a:avLst/>
          </a:prstGeom>
          <a:solidFill>
            <a:srgbClr val="E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21488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Post-training recipe is the dominant lever. SFT on chat data amplifies conformity 3x; SFT on reasoning data suppresses it. DPO partially reverses; RL does not fully restore.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98064"/>
            <a:ext cx="109728" cy="109728"/>
          </a:xfrm>
          <a:prstGeom prst="ellipse">
            <a:avLst/>
          </a:prstGeom>
          <a:solidFill>
            <a:srgbClr val="2EAB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27432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alone is insufficient. 32B-Instruct still shows 40.8% BER despite being a more capable model. The Think recipe is necessary for the final drop to 11.8%.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92424"/>
            <a:ext cx="109728" cy="10972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0120" y="3337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32B Think trajectory (SFT 26% → DPO 19% → final 12%) shows each training stage contributes, with larger improvements at 32B than 7B.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0120" y="39319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prompts provide load-bearing protection for some models (Llama-70B: +20.5pp when stripped) but are redundant for others (OLMo-32B: -1.75pp). Robustness claims require ablation.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7091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AB6F"/>
                </a:solidFill>
              </a:rPr>
              <a:t>20 PASS</a:t>
            </a:r>
            <a:r>
              <a:rPr lang="en-US" sz="1400" dirty="0">
                <a:solidFill>
                  <a:srgbClr val="8FA4C4"/>
                </a:solidFill>
              </a:rPr>
              <a:t> / </a:t>
            </a:r>
            <a:r>
              <a:rPr lang="en-US" sz="1400" b="1" dirty="0">
                <a:solidFill>
                  <a:srgbClr val="E8553D"/>
                </a:solidFill>
              </a:rPr>
              <a:t>2 FAIL</a:t>
            </a:r>
            <a:r>
              <a:rPr lang="en-US" sz="1400" dirty="0">
                <a:solidFill>
                  <a:srgbClr val="8FA4C4"/>
                </a:solidFill>
              </a:rPr>
              <a:t> / </a:t>
            </a:r>
            <a:r>
              <a:rPr lang="en-US" sz="1400" b="1" dirty="0">
                <a:solidFill>
                  <a:srgbClr val="F0A500"/>
                </a:solidFill>
              </a:rPr>
              <a:t>1 PARTIAL</a:t>
            </a:r>
            <a:r>
              <a:rPr lang="en-US" sz="1300" dirty="0">
                <a:solidFill>
                  <a:srgbClr val="8FA4C4"/>
                </a:solidFill>
              </a:rPr>
              <a:t>  across 23 pre-registered and descriptive claims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1467</Words>
  <Application>Microsoft Macintosh PowerPoint</Application>
  <PresentationFormat>On-screen Show (16:9)</PresentationFormat>
  <Paragraphs>158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Pattern-Completion Conformity in LLMs</dc:title>
  <dc:subject>PptxGenJS Presentation</dc:subject>
  <dc:creator>Mahdi</dc:creator>
  <cp:lastModifiedBy>Mahdi Saeedi</cp:lastModifiedBy>
  <cp:revision>2</cp:revision>
  <dcterms:created xsi:type="dcterms:W3CDTF">2026-04-10T07:38:28Z</dcterms:created>
  <dcterms:modified xsi:type="dcterms:W3CDTF">2026-04-10T17:34:00Z</dcterms:modified>
</cp:coreProperties>
</file>